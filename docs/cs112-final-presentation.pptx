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A5C"/>
                </a:solidFill>
                <a:latin typeface="Arial"/>
              </a:rPr>
              <a:t>Worst single-substation losses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Substations cut off</c:v>
                </c:pt>
              </c:strCache>
            </c:strRef>
          </c:tx>
          <c:spPr>
            <a:solidFill>
              <a:srgbClr val="1F2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Cape Coast</c:v>
                  </c:pt>
                  <c:pt idx="1">
                    <c:v>Takoradi</c:v>
                  </c:pt>
                  <c:pt idx="2">
                    <c:v>Koforidua</c:v>
                  </c:pt>
                  <c:pt idx="3">
                    <c:v>Kumasi Central</c:v>
                  </c:pt>
                  <c:pt idx="4">
                    <c:v>Ho</c:v>
                  </c:pt>
                  <c:pt idx="5">
                    <c:v>Sunyani</c:v>
                  </c:pt>
                  <c:pt idx="6">
                    <c:v>Achimota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</c:v>
                </c:pt>
                <c:pt idx="1">
                  <c:v>19</c:v>
                </c:pt>
                <c:pt idx="2">
                  <c:v>17</c:v>
                </c:pt>
                <c:pt idx="3">
                  <c:v>15</c:v>
                </c:pt>
                <c:pt idx="4">
                  <c:v>13</c:v>
                </c:pt>
                <c:pt idx="5">
                  <c:v>9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A5C"/>
                </a:solidFill>
                <a:latin typeface="Arial"/>
              </a:rPr>
              <a:t>Tests by suite (134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F2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 data pipeline</c:v>
                  </c:pt>
                  <c:pt idx="1">
                    <c:v>GridCare services</c:v>
                  </c:pt>
                  <c:pt idx="2">
                    <c:v>ClinicCare core</c:v>
                  </c:pt>
                  <c:pt idx="3">
                    <c:v>ClinicCare routes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35</c:v>
                </c:pt>
                <c:pt idx="2">
                  <c:v>59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team member names to this slide before presenting. Opening line: one dataset about Ghana's power grid, taken all the way from raw CSVs to analysis, then two working applications in two different domains. Everything shown is reproducible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connection matters: the cleaned substation data from component 1 becomes the reference data GridCare-Lite validates outages against. ClinicCare-Lite reuses the engineering approach - logic layer, role checks, tests - in a domain where privacy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handoff - whoever presents component 1 takes over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caveat is a grading criterion: utility names and towns are real, every number is synthetic from a seeded generator - so all teams work on identical data and nothing here describes Ghana's actual grid. Totals: 6,946 MVA, 5,462 km of lines, commissioning years 1967-2022.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treats generated data like a real asset register export. Every check logs a result even when it finds nothing - a step that found nothing is still a step we checked. The planted-defect tests prove the validators actually catch orphaned lines and swapped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Greater Accra leads with 6 substations; the single-substation 'regions' at the bottom are cross-border WAPP points. Right: Mallam, Kumasi Central and Cape Coast tie at 5 connections - remember those three names for the N-1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figure, whole story: nodes at real coordinates, sized by betweenness, coloured by detected community, red ring = articulation point. The red chain down the middle is the backbone. Communities come out as unions of adjacent regions - the graph rediscovers geography.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finding. We removed every substation in turn, not just the busiest. Mallam and Cape Coast both have 5 connections - the joint maximum. Losing Mallam strands nobody; its links are redundant local mesh. Losing Cape Coast strands 21 of the remaining 41 - it is a link in the only west-east chain. Degree cannot tell you which failures matter; articulation analysis can. Cross-checked brute-force removal against nx.articulation_points - exact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Merged-data analysis found each region pair joined by exactly one line; the bridge analysis confirms all 16 inter-regional corridors are bridges - redundancy exists inside regions and nowhere between them. That is the clearest investment signal this analysis can produce. Everything lands in an interactive Folium map and a four-tab Streamlit dashboard - live demo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handoff to the GridCare presenter.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decision worth defending: the GUI never touches SQL. Every operation goes through services.py, which re-checks the caller's role and the legal status transitions - hiding a button is presentation, the service check is the security. Substations come from the component-1 cleaned data, so an outage physically cannot reference an asset that does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admin sees five tabs and every outage. Right: technician Ama sees three tabs and only her own two work orders - the filtering is in the service layer query, not the widget. Acting on someone else's order by id is refused too, and there is a test for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recompute from the database every time the tab is shown - resolve an outage and the numbers move. The error cases are demo material: duplicate outage warning with an are-you-sure, invalid dates including 2026-13-45, completion without notes refused, wrong technician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handoff to the ClinicCare presenter.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makes this a hard requirement and the rubric enforces it: a system that interprets health data loses the marks regardless of code quality. Our boundary is testable: review outcomes are categorical and a numeric grade is rejected as invalid; the completeness checker has no code path comparing a value to a threshold - a test submits an alarming reading and asserts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Flask blueprints; every data touch goes through guards.py - two role decorators plus ownership helpers. Foreign records 404 rather than 403, so a response never confirms a record exists. Storage is JSON per the spec, behind a store module doing atomic temp-file-and-replace writes under a lock - covers the truncation bug the brief warns about, plus crash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completeness check runs on the raw bytes before anything is stored - an incomplete file is rejected with the exact problems named and nothing persists. Every step notifies in-app, with email alongside (dry-run outbox in demos). Resubmission allowed before review and flagged; locked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deliberate designs. Engagement: points and streaks are visible only to their owner - the module has exactly one read function and a test asserts no leaderboard-shaped API exists; the brief's rationale: ranking patients leaks who is keeping up with their care. Analytics: clinic aggregates only, no patient named - asserted in a route test. Access: ownership helpers make cross-patient reads unreachable, and unknown records are indistinguishable from forbidden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Strategy: rules live in a logic layer, so most tests hit that layer directly; route tests then verify the web boundary - status codes and who can reach what. More failure-path tests than happy-path throughout, because the rubric's test lists are about invalid input and unauthorised access. Fresh state per test: in-memory SQLite for GridCare, temp-dir JSON stores for ClinicCare.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defects logged with causes, fixes and retests. The point of this slide: three different nets caught three different bugs - tests, walking the real UI, and writing the report. Each catch is exactly the reflection material the rubric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working process - feature branches and PRs with one review, meaning commits, the docs pack in the repo, everything reproducible from clone to demo. Right: limitations stated plainly - the rubric rewards knowing them. Future work: SQLite behind ClinicCare's store interface, real load data for the grid, appointment self-scheduling.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live demo. Good closing line before questions: three systems, one discipline - rules in one place, tests before screens, and honesty about what synthetic data can and cannot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</a:rPr>
              <a:t>CS 112 · COMPUTER PROGRAMMING FOR CS · SUMMER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Grid Data to Working Systems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3F7"/>
                </a:solidFill>
              </a:rPr>
              <a:t>National electricity grid network analysis · GridCare-Lite · ClinicCare-Lite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10 / 44 / 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864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</a:rPr>
              <a:t>utilities · substations · 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4206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4864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</a:rPr>
              <a:t>applications built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4206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134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4864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</a:rPr>
              <a:t>automated tests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One project, three connected components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5C"/>
                </a:solidFill>
              </a:rPr>
              <a:t>1 · Grid analysis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</a:rPr>
              <a:t>Ghana's grid as a graph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Clean, validate, merge three CSVs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NetworkX: centrality, communities, bridges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N-1 contingency: remove each substation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Folium map + Streamlit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</a:rPr>
              <a:t>pandas · NetworkX · Plotly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3258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10" name="Text 7"/>
          <p:cNvSpPr/>
          <p:nvPr/>
        </p:nvSpPr>
        <p:spPr>
          <a:xfrm>
            <a:off x="4562856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5C"/>
                </a:solidFill>
              </a:rPr>
              <a:t>2 · GridCare-Lite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62856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</a:rPr>
              <a:t>Outage &amp; maintenance desktop app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62856" y="24231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Log outages against real substations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Work orders: assign, schedule, complete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4 roles, enforced in the service layer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Audit trail + live reports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62856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</a:rPr>
              <a:t>Tkinter · SQLite · bcrypt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19872" y="13258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15" name="Text 12"/>
          <p:cNvSpPr/>
          <p:nvPr/>
        </p:nvSpPr>
        <p:spPr>
          <a:xfrm>
            <a:off x="8348472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5C"/>
                </a:solidFill>
              </a:rPr>
              <a:t>3 · ClinicCare-Lite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34847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</a:rPr>
              <a:t>Clinic administration web app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48472" y="24231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Health tasks, uploads, categorical review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Messaging, announcements, reminders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Strictly administrative - never diagnostic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Private engagement, aggregate analytics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48472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</a:rPr>
              <a:t>Flask · Bootstrap · JSON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</a:rPr>
              <a:t>Data flows left to right: the analysis output is the applications' reference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</a:rPr>
              <a:t>COMPONENT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National Electricity Grid Network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7"/>
                </a:solidFill>
              </a:rPr>
              <a:t>44 substations, 55 lines, one question: which failures would split the country?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The dataset: real geography, generated numbers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5C"/>
                </a:solidFill>
              </a:rPr>
              <a:t>10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utilities - ECG, NEDCo, GRIDCo, VRA + WAPP neighbours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108960" y="13716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324612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5C"/>
                </a:solidFill>
              </a:rPr>
              <a:t>44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246120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substations with region, voltage, capacity, 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0" y="13716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5C"/>
                </a:solidFill>
              </a:rPr>
              <a:t>55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806440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transmission &amp; distribution lines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13716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5C"/>
                </a:solidFill>
              </a:rPr>
              <a:t>seed 42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366760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identical CSVs for every team, every run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10058400" cy="1051560"/>
          </a:xfrm>
          <a:prstGeom prst="roundRect">
            <a:avLst>
              <a:gd name="adj" fmla="val 6957"/>
            </a:avLst>
          </a:prstGeom>
          <a:solidFill>
            <a:srgbClr val="D7E3F7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246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C"/>
                </a:solidFill>
              </a:rPr>
              <a:t>Synthetic by design.  </a:t>
            </a:r>
            <a:pPr indent="0" marL="0">
              <a:buNone/>
            </a:pPr>
            <a:r>
              <a:rPr lang="en-US" sz="1350" dirty="0">
                <a:solidFill>
                  <a:srgbClr val="222833"/>
                </a:solidFill>
              </a:rPr>
              <a:t>Real utility names and towns, generated capacities, connections and ages. Findings are statements about this dataset - never about Ghana's actual grid.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4434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utilities.csv - who operates (like airlines.csv in the OpenFlights layout)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substations.csv - the nodes: location, region, voltage tier, capacity, year, status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lines.csv - the edges: endpoints, voltage, length, capacity, operational status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Cleaning and validation: verified, not assumed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Missing-value tokens normalised, whitespace stripped, numerics coerced, duplicates dropped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Primary keys unique; every line endpoint resolves to a real substation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Coordinates inside West Africa - a swapped lat/lon would wreck every map and distance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Categorical fields against expected sets; no self-loops; no future commissioning years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Validators proven by tests that plant defects and assert they are caught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858000" y="141732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C"/>
                </a:solidFill>
              </a:rPr>
              <a:t>The finding hiding in the row count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86600" y="214884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5C"/>
                </a:solidFill>
              </a:rPr>
              <a:t>44</a:t>
            </a:r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  substations in the register
</a:t>
            </a:r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  nodes if you build the graph naively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086600" y="37947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</a:rPr>
              <a:t>Two substations have no lines at all - Conakry Hub and Savelugu. Building from the edge list silently drops them (the brief's sample does). We add nodes first, keep the isolates visible, and report them as a coverage finding.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Exploring the grid: where the assets are</a:t>
            </a:r>
            <a:endParaRPr lang="en-US" sz="3200" dirty="0"/>
          </a:p>
        </p:txBody>
      </p:sp>
      <p:pic>
        <p:nvPicPr>
          <p:cNvPr id="4" name="Image 0" descr="C:\Users\user\Desktop\Uni Projects\cs112-final-project\01-grid-analysis\outputs\q1_substations_by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3044952"/>
          </a:xfrm>
          <a:prstGeom prst="rect">
            <a:avLst/>
          </a:prstGeom>
        </p:spPr>
      </p:pic>
      <p:pic>
        <p:nvPicPr>
          <p:cNvPr id="5" name="Image 1" descr="C:\Users\user\Desktop\Uni Projects\cs112-final-project\01-grid-analysis\outputs\q7_most_connec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27355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EF3FB"/>
          </a:solidFill>
          <a:ln/>
        </p:spPr>
      </p:sp>
      <p:sp>
        <p:nvSpPr>
          <p:cNvPr id="7" name="Text 2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Greater Accra densest (6); the northern third thinnest - and Savelugu's missing lines make it worse than it looks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</a:rPr>
              <a:t>Most-connected: Mallam, Kumasi Central, Cape Coast at 5 lines each - counted across both endpoints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The grid as a graph</a:t>
            </a:r>
            <a:endParaRPr lang="en-US" sz="3200" dirty="0"/>
          </a:p>
        </p:txBody>
      </p:sp>
      <p:pic>
        <p:nvPicPr>
          <p:cNvPr id="4" name="Image 0" descr="C:\Users\user\Desktop\Uni Projects\cs112-final-project\01-grid-analysis\outputs\n2_networ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75120" cy="51389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89520" y="1371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D7E3F7"/>
          </a:solidFill>
          <a:ln/>
        </p:spPr>
      </p:sp>
      <p:sp>
        <p:nvSpPr>
          <p:cNvPr id="6" name="Text 2"/>
          <p:cNvSpPr/>
          <p:nvPr/>
        </p:nvSpPr>
        <p:spPr>
          <a:xfrm>
            <a:off x="781812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density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9509760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0.064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589520" y="221284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9" name="Text 5"/>
          <p:cNvSpPr/>
          <p:nvPr/>
        </p:nvSpPr>
        <p:spPr>
          <a:xfrm>
            <a:off x="781812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diameter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5097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14 hops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589520" y="305409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D7E3F7"/>
          </a:solidFill>
          <a:ln/>
        </p:spPr>
      </p:sp>
      <p:sp>
        <p:nvSpPr>
          <p:cNvPr id="12" name="Text 8"/>
          <p:cNvSpPr/>
          <p:nvPr/>
        </p:nvSpPr>
        <p:spPr>
          <a:xfrm>
            <a:off x="7818120" y="31272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avg path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09760" y="3127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5.41 hops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589520" y="389534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5" name="Text 11"/>
          <p:cNvSpPr/>
          <p:nvPr/>
        </p:nvSpPr>
        <p:spPr>
          <a:xfrm>
            <a:off x="7818120" y="39684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modularity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509760" y="3968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0.730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589520" y="473659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D7E3F7"/>
          </a:solidFill>
          <a:ln/>
        </p:spPr>
      </p:sp>
      <p:sp>
        <p:nvSpPr>
          <p:cNvPr id="18" name="Text 14"/>
          <p:cNvSpPr/>
          <p:nvPr/>
        </p:nvSpPr>
        <p:spPr>
          <a:xfrm>
            <a:off x="7818120" y="48097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bridges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509760" y="48097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21 (16 inter-regional)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589520" y="55778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21" name="Text 17"/>
          <p:cNvSpPr/>
          <p:nvPr/>
        </p:nvSpPr>
        <p:spPr>
          <a:xfrm>
            <a:off x="7818120" y="5650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articulation points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509760" y="5650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N-1 contingency: same degree, opposite consequences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</a:rPr>
              <a:t>Mallam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degree 5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8E5C"/>
                </a:solidFill>
              </a:rPr>
              <a:t>0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</a:rPr>
              <a:t>substations cut off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918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</a:rPr>
              <a:t>Cape Coast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degree 5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9184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0392B"/>
                </a:solidFill>
              </a:rPr>
              <a:t>21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329184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</a:rPr>
              <a:t>of 41 remaining - half the country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40233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2833"/>
                </a:solidFill>
              </a:rPr>
              <a:t>Connection count is not criticality. What matters is whether a node's links are redundant mesh or the only chain - which is what betweenness and articulation points measure.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26480" y="137160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Every inter-regional corridor is a bridge</a:t>
            </a:r>
            <a:endParaRPr lang="en-US" sz="3200" dirty="0"/>
          </a:p>
        </p:txBody>
      </p:sp>
      <p:pic>
        <p:nvPicPr>
          <p:cNvPr id="4" name="Image 0" descr="C:\Users\user\Desktop\Uni Projects\cs112-final-project\01-grid-analysis\outputs\m3_region_p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760720" cy="3840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75120" y="15544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Each corridor = one line = one bridge: no alternative route between any two regions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Interactive layers: substations by voltage, lines by status, lines by utility (Folium)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Streamlit dashboard: overview, filterable network, capacity map, N-1 ranking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Line lengths verified against coordinates - routing factor 1.05-1.30, none impossible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675120" y="48920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D7E3F7"/>
          </a:solidFill>
          <a:ln/>
        </p:spPr>
      </p:sp>
      <p:sp>
        <p:nvSpPr>
          <p:cNvPr id="7" name="Text 3"/>
          <p:cNvSpPr/>
          <p:nvPr/>
        </p:nvSpPr>
        <p:spPr>
          <a:xfrm>
            <a:off x="6903720" y="5029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A5C"/>
                </a:solidFill>
              </a:rPr>
              <a:t>Structural proxies on synthetic data - where a real power-flow study would look first, not operational findings.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</a:rPr>
              <a:t>COMPONENT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GridCare-Lite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7"/>
                </a:solidFill>
              </a:rPr>
              <a:t>The outage-to-resolution workflow as a desktop application - four roles, one audit trail.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Four roles, one workflow, rules in one place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71323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Engineer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195681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</a:rPr>
              <a:t>logs outages against real substations, with severity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8328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354787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Administrator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47872" y="195681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</a:rPr>
              <a:t>creates work orders, assigns technician + date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/>
        </p:spPr>
      </p:sp>
      <p:sp>
        <p:nvSpPr>
          <p:cNvPr id="11" name="Text 8"/>
          <p:cNvSpPr/>
          <p:nvPr/>
        </p:nvSpPr>
        <p:spPr>
          <a:xfrm>
            <a:off x="638251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Technician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2512" y="195681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</a:rPr>
              <a:t>sees only their own queue; starts and completes work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5256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/>
        </p:spPr>
      </p:sp>
      <p:sp>
        <p:nvSpPr>
          <p:cNvPr id="14" name="Text 11"/>
          <p:cNvSpPr/>
          <p:nvPr/>
        </p:nvSpPr>
        <p:spPr>
          <a:xfrm>
            <a:off x="921715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Customer service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217152" y="195681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</a:rPr>
              <a:t>logs complaints, links them to known outages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Outage lifecycle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F2A5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1792" y="41605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engineer reports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651760" y="4005072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1" name="Shape 18"/>
          <p:cNvSpPr/>
          <p:nvPr/>
        </p:nvSpPr>
        <p:spPr>
          <a:xfrm>
            <a:off x="3200400" y="3703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F2A5C"/>
          </a:solidFill>
          <a:ln/>
        </p:spPr>
      </p:sp>
      <p:sp>
        <p:nvSpPr>
          <p:cNvPr id="22" name="Text 19"/>
          <p:cNvSpPr/>
          <p:nvPr/>
        </p:nvSpPr>
        <p:spPr>
          <a:xfrm>
            <a:off x="3273552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 Progress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273552" y="41605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technician starts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03520" y="4005072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5" name="Shape 22"/>
          <p:cNvSpPr/>
          <p:nvPr/>
        </p:nvSpPr>
        <p:spPr>
          <a:xfrm>
            <a:off x="5852160" y="3703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3E8E5C"/>
          </a:solidFill>
          <a:ln/>
        </p:spPr>
      </p:sp>
      <p:sp>
        <p:nvSpPr>
          <p:cNvPr id="26" name="Text 23"/>
          <p:cNvSpPr/>
          <p:nvPr/>
        </p:nvSpPr>
        <p:spPr>
          <a:xfrm>
            <a:off x="5925312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Resolved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25312" y="41605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work completed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Work order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8640" y="52120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D7E3F7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" y="53035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Pending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21792" y="56692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admin creates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651760" y="5513832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0" y="52120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D7E3F7"/>
          </a:solidFill>
          <a:ln/>
        </p:spPr>
      </p:sp>
      <p:sp>
        <p:nvSpPr>
          <p:cNvPr id="34" name="Text 31"/>
          <p:cNvSpPr/>
          <p:nvPr/>
        </p:nvSpPr>
        <p:spPr>
          <a:xfrm>
            <a:off x="3273552" y="53035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Scheduled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273552" y="56692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technician + date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303520" y="5513832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7" name="Shape 34"/>
          <p:cNvSpPr/>
          <p:nvPr/>
        </p:nvSpPr>
        <p:spPr>
          <a:xfrm>
            <a:off x="5852160" y="52120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3E8E5C"/>
          </a:solidFill>
          <a:ln/>
        </p:spPr>
      </p:sp>
      <p:sp>
        <p:nvSpPr>
          <p:cNvPr id="38" name="Text 35"/>
          <p:cNvSpPr/>
          <p:nvPr/>
        </p:nvSpPr>
        <p:spPr>
          <a:xfrm>
            <a:off x="5925312" y="53035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Completed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925312" y="56692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resolves the outage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503920" y="370332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/>
        </p:spPr>
      </p:sp>
      <p:sp>
        <p:nvSpPr>
          <p:cNvPr id="41" name="Text 38"/>
          <p:cNvSpPr/>
          <p:nvPr/>
        </p:nvSpPr>
        <p:spPr>
          <a:xfrm>
            <a:off x="873252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C"/>
                </a:solidFill>
              </a:rPr>
              <a:t>Enforced, not suggested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732520" y="425196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</a:rPr>
              <a:t>Illegal transitions are refused with the allowed states named. Completing a work order resolves its outage in the same step - the two records can never disagree. Every change lands in status_history: who, when, old, new.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The same system, seen by two roles</a:t>
            </a:r>
            <a:endParaRPr lang="en-US" sz="3200" dirty="0"/>
          </a:p>
        </p:txBody>
      </p:sp>
      <p:pic>
        <p:nvPicPr>
          <p:cNvPr id="4" name="Image 0" descr="C:\Users\user\Desktop\Uni Projects\cs112-final-project\docs\slide-assets\gridcare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474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Administrator - all outages, five tabs</a:t>
            </a:r>
            <a:endParaRPr lang="en-US" sz="1200" dirty="0"/>
          </a:p>
        </p:txBody>
      </p:sp>
      <p:pic>
        <p:nvPicPr>
          <p:cNvPr id="6" name="Image 1" descr="C:\Users\user\Desktop\Uni Projects\cs112-final-project\docs\slide-assets\gridcare-technic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4747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093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Technician - own queue only, three tabs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Reports that move, errors that explain</a:t>
            </a:r>
            <a:endParaRPr lang="en-US" sz="3200" dirty="0"/>
          </a:p>
        </p:txBody>
      </p:sp>
      <p:pic>
        <p:nvPicPr>
          <p:cNvPr id="4" name="Image 0" descr="C:\Users\user\Desktop\Uni Projects\cs112-final-project\docs\slide-assets\gridcare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035040" cy="38221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03720" y="16002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Open / In Progress / Resolved counts, unresolved by severity and region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Average resolution time from the audit timestamps (27.0 h on seeded data)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Duplicate guard: second outage on a substation asks 'separate incident?'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Dates validated properly - 2026-13-45 and yesterday both refused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Every failure path shows a message; nothing crashes the app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</a:rPr>
              <a:t>COMPONENT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ClinicCare-Lite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7"/>
                </a:solidFill>
              </a:rPr>
              <a:t>Clinic administration on the web - where the hardest requirement is what the system must never do.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Administrative by design - never diagnostic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C"/>
                </a:solidFill>
              </a:rPr>
              <a:t>The system says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"The 'Systolic' column is missing."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"The date field is empty on row 4."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"Submission received - on time."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"Reviewed - Needs Follow-up. Notes from your clinician: ..."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</a:rPr>
              <a:t>The system never says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92240" y="2286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"Your blood pressure is dangerous."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Any interpretation of a submitted value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Any score, grade or risk rating on health data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833"/>
                </a:solidFill>
              </a:rPr>
              <a:t>Any comparison of one patient with another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D7E3F7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5C"/>
                </a:solidFill>
              </a:rPr>
              <a:t>Categorical review outcomes - Pending · Reviewed-Normal · Needs Follow-up · Escalated - set only by the clinician, never computed. A numeric grade is rejected as invalid (tested).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Architecture: access control lives in one file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D7E3F7"/>
          </a:solidFill>
          <a:ln/>
        </p:spPr>
      </p:sp>
      <p:sp>
        <p:nvSpPr>
          <p:cNvPr id="5" name="Text 2"/>
          <p:cNvSpPr/>
          <p:nvPr/>
        </p:nvSpPr>
        <p:spPr>
          <a:xfrm>
            <a:off x="621792" y="16459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Browser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201168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Bootstrap + client-side validation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017520" y="1920240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Shape 5"/>
          <p:cNvSpPr/>
          <p:nvPr/>
        </p:nvSpPr>
        <p:spPr>
          <a:xfrm>
            <a:off x="3566160" y="15544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F2A5C"/>
          </a:solidFill>
          <a:ln/>
        </p:spPr>
      </p:sp>
      <p:sp>
        <p:nvSpPr>
          <p:cNvPr id="9" name="Text 6"/>
          <p:cNvSpPr/>
          <p:nvPr/>
        </p:nvSpPr>
        <p:spPr>
          <a:xfrm>
            <a:off x="3639312" y="1645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Routes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39312" y="201168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auth · clinician · patient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1920240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15544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16459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guards.py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31152" y="20116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roles + ownership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35440" y="1920240"/>
            <a:ext cx="457200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3"/>
          <p:cNvSpPr/>
          <p:nvPr/>
        </p:nvSpPr>
        <p:spPr>
          <a:xfrm>
            <a:off x="9784080" y="1554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F2A5C"/>
          </a:solidFill>
          <a:ln/>
        </p:spPr>
      </p:sp>
      <p:sp>
        <p:nvSpPr>
          <p:cNvPr id="17" name="Text 14"/>
          <p:cNvSpPr/>
          <p:nvPr/>
        </p:nvSpPr>
        <p:spPr>
          <a:xfrm>
            <a:off x="9857232" y="16459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857232" y="20116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entities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566160" y="30175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/>
        </p:spPr>
      </p:sp>
      <p:sp>
        <p:nvSpPr>
          <p:cNvPr id="20" name="Text 17"/>
          <p:cNvSpPr/>
          <p:nvPr/>
        </p:nvSpPr>
        <p:spPr>
          <a:xfrm>
            <a:off x="3639312" y="3108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utils/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39312" y="34747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validators · files · completeness · analytics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0" y="3017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/>
        </p:spPr>
      </p:sp>
      <p:sp>
        <p:nvSpPr>
          <p:cNvPr id="23" name="Text 20"/>
          <p:cNvSpPr/>
          <p:nvPr/>
        </p:nvSpPr>
        <p:spPr>
          <a:xfrm>
            <a:off x="6931152" y="31089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email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31152" y="34747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dry-run outbox / SMTP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784080" y="3017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/>
        </p:spPr>
      </p:sp>
      <p:sp>
        <p:nvSpPr>
          <p:cNvPr id="26" name="Text 23"/>
          <p:cNvSpPr/>
          <p:nvPr/>
        </p:nvSpPr>
        <p:spPr>
          <a:xfrm>
            <a:off x="9857232" y="310896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JSON store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857232" y="34747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atomic writes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43434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Patient A requesting patient B's record: 404 - existence not confirmed (tested)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Wrong role on a URL: 403; no session: redirect to login (tested)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Uploads: .txt/.csv/.pdf only, 5 MB cap, renamed patientID_taskID.ext, path-traversal refused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Secrets only from .env; the app refuses to start without a real secret key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Submit → check → review → notify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5" name="Text 2"/>
          <p:cNvSpPr/>
          <p:nvPr/>
        </p:nvSpPr>
        <p:spPr>
          <a:xfrm>
            <a:off x="621792" y="160020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· Assign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19659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clinician creates task, patients notified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090672" y="1965960"/>
            <a:ext cx="310896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0" y="15087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9" name="Text 6"/>
          <p:cNvSpPr/>
          <p:nvPr/>
        </p:nvSpPr>
        <p:spPr>
          <a:xfrm>
            <a:off x="3502152" y="160020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· Submit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02152" y="19659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upload checked: type, size, structure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71032" y="1965960"/>
            <a:ext cx="310896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9"/>
          <p:cNvSpPr/>
          <p:nvPr/>
        </p:nvSpPr>
        <p:spPr>
          <a:xfrm>
            <a:off x="6309360" y="15087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382512" y="160020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 · Review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82512" y="19659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5C"/>
                </a:solidFill>
              </a:rPr>
              <a:t>categorical outcome + notes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851392" y="1965960"/>
            <a:ext cx="310896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3"/>
          <p:cNvSpPr/>
          <p:nvPr/>
        </p:nvSpPr>
        <p:spPr>
          <a:xfrm>
            <a:off x="9189720" y="15087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17" name="Text 14"/>
          <p:cNvSpPr/>
          <p:nvPr/>
        </p:nvSpPr>
        <p:spPr>
          <a:xfrm>
            <a:off x="9262872" y="160020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· Notify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262872" y="19659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F7"/>
                </a:solidFill>
              </a:rPr>
              <a:t>dashboard, inbox and email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1089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EF3F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291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C"/>
                </a:solidFill>
              </a:rPr>
              <a:t>Rejected with reasons:  </a:t>
            </a:r>
            <a:pPr indent="0" marL="0">
              <a:buNone/>
            </a:pPr>
            <a:r>
              <a:rPr lang="en-US" sz="1350" dirty="0">
                <a:solidFill>
                  <a:srgbClr val="222833"/>
                </a:solidFill>
              </a:rPr>
              <a:t>"The 'Systolic' column is missing. Fix the issues above and submit again - nothing was stored."  Structure only, meaning never.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Appointments: booked by the clinician, reminded once 24 h ahead (send_reminders.py), attendance drives analytics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Messaging: pairwise threads, 5-second polling, permanent 'not monitored - not for emergencies' notice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Announcements: publish/expiry dates, urgent ones also emailed to every patient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Privacy engineering, not privacy promises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5C"/>
                </a:solidFill>
              </a:rPr>
              <a:t>Private engagement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+10 EP on-time submission, +5 attendance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Streak resets on a late submission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Owner-only page - no ranking API exists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Test asserts no leaderboard function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34256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4562856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5C"/>
                </a:solidFill>
              </a:rPr>
              <a:t>Aggregate analytics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562856" y="21945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Completion rate, pending reviews, turnaround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No-show rate by week from attendance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No patient id or name on the page (tested)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Patients see their own history only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19872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11" name="Text 8"/>
          <p:cNvSpPr/>
          <p:nvPr/>
        </p:nvSpPr>
        <p:spPr>
          <a:xfrm>
            <a:off x="8348472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5C"/>
                </a:solidFill>
              </a:rPr>
              <a:t>Scoped access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348472" y="21945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Foreign records 404 - existence hidden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Threads strictly pairwise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Inbox returns recipient-only mail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3"/>
                </a:solidFill>
              </a:rPr>
              <a:t>Clinician limited to own clinic's patients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134 automated tests, negative cases first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675120" y="16002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Every item on the brief's test lists mapped to a named test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Validators proven against planted defects - orphaned line, swapped coordinates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Security as assertions: cross-patient 404, wrong-role 403, pairwise-only threads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Boundary as a test: alarming health value passes the checker with zero comment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Manual GUI pass on top - which is what caught the path-separator defect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Defects we found, and what found them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</a:rPr>
              <a:t>Found by writing a test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5C"/>
                </a:solidFill>
              </a:rPr>
              <a:t>D1 - misleading error order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</a:rPr>
              <a:t>Starting an unassigned work order said 'assigned to a different technician'. Status check now runs before ownership; the message names the real problem.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4256" y="14630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4562856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</a:rPr>
              <a:t>Found by walking the UI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62856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5C"/>
                </a:solidFill>
              </a:rPr>
              <a:t>D2 - Windows path separators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562856" y="28346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</a:rPr>
              <a:t>Stored submission paths used backslashes - display broke, JSON non-portable. Invisible to tests; obvious in the browser. Paths now stored POSIX-style.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19872" y="14630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</p:spPr>
      </p:sp>
      <p:sp>
        <p:nvSpPr>
          <p:cNvPr id="13" name="Text 10"/>
          <p:cNvSpPr/>
          <p:nvPr/>
        </p:nvSpPr>
        <p:spPr>
          <a:xfrm>
            <a:off x="8348472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</a:rPr>
              <a:t>Found by writing the report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48472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5C"/>
                </a:solidFill>
              </a:rPr>
              <a:t>D5 - number typed from memory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48472" y="28346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</a:rPr>
              <a:t>Prose said 13 inter-regional lines; computed value is 16. Every number in prose must come from output - corrected and logged.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</a:rPr>
              <a:t>How we worked, and what we'd say honestly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</a:rPr>
              <a:t>Process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Branch per feature, pull requests, one review before merge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Commit messages that explain the why - the history reads as a build log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Reports, diagrams, test plan and user guides live in docs/, versioned with the code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Seeded data + pinned requirements: identical setup on every machine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19202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All grid numbers synthetic - structural proxies, not operational findings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JSON storage has no indexing; the store interface was designed for a SQLite swap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Polling, not WebSockets, for messaging - the spec allowed either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</a:rPr>
              <a:t>Email exercised in dry-run; live SMTP deliberately kept out of coursework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</a:rPr>
              <a:t>LIVE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From outage to resolution, from task to review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7"/>
                </a:solidFill>
              </a:rPr>
              <a:t>GridCare-Lite: engineer → admin → technician → resolved · ClinicCare-Lite: assign → submit → review → notified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956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134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5504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</a:rPr>
              <a:t>tests passing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48463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4956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474720" y="5504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</a:rPr>
              <a:t>working systems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48463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2A5C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4956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09360" y="5504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</a:rPr>
              <a:t>defects logged &amp; fixed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2026-08-27T10:50:49Z</dcterms:created>
  <dcterms:modified xsi:type="dcterms:W3CDTF">2026-08-27T10:50:49Z</dcterms:modified>
</cp:coreProperties>
</file>